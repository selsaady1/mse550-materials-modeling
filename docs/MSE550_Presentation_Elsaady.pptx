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Use of Scanning Electron Microscopy (SEM)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Microstructural Characterization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Failure Analysis of Materials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310896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Elsaady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550 — Advanced Materials Characterization  |  Dr. Theodore  |  April 4,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Scanning Electron Microscopy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uses a focused electron beam to probe specimen surfaces, generating multiple signals that carry information about structure, composition, and electronic properties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electrons (SEs) provide surface topographic contrast at high resolution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Backscattered electrons (BSEs) reveal compositional differences due to atomic number variations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 X-rays enable elemental identification via Energy Dispersive Spectroscopy (EDS)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Cathodoluminescence (CL) provides information about band-gap structure, defects, and impurity distributions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of multiple signal detection modes gives SEM a unique and irreplaceable role in materials characterization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Jiang, R. et al. (2024). Frontiers of Materials Science, 18(4), Article 240709.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of SEM: From Imaging to Quantitative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has evolved from a qualitative imaging tool into a robust quantitative analytical instrument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driven by improvements in electron source technology, detector design, and digital image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Correlative microscopy combines SEM-EDS with X-ray computed tomography (XCT) and nanoindentation for comprehensive characterization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SEM-based fractography has become increasingly sophisticated for failure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methods now enable quantitative evaluation of fatigue striations for predictive capability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(2023). Materials Characterization, 205, 113331; Maruschak &amp; Maruschak (2024). MethodsX, 13, 102989.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Scope: Two Applications of SEM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256032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Microstructural Characterization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Correlative microscopy of Aba Panu meteorite (SEM-EDS + XCT + nanoindentation)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SEM-CL mapping of geological and semiconductor microstructures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256032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97280"/>
            <a:ext cx="384048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&amp; Fractography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Qualitative SEM fractography of dental ceramics and polymers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Computational methods for quantitative fatigue striation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(2023); Jiang et al. (2024); Alghazzawi et al. (2023); Maruschak &amp; Maruschak (2024).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Technique: Electron-Matter Interactions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electron beam interacts with specimen atoms via elastic and inelastic scattering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scattering: electrons deflected by atomic nucleus with negligible energy loss → backscattered electrons (BSEs); probability increases with atomic number, providing compositional contrast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scattering: energy transfer to specimen atoms → secondary electrons (SEs); low-energy electrons from shallow surface region, highly sensitive to topography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Inner-shell ionization produces characteristic X-rays as outer-shell electrons fill vacancies → elemental identification via EDS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excitation of valence electrons generates cathodoluminescence (CL) photons sensitive to band-gap, defects, and impurities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Jiang, R. et al. (2024). Frontiers of Materials Science, 18(4), Article 240709; Huang et T.-J. et al. (2023). Materials Characterization, 205, 113331.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Detection Modes and Analytical Capabilities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Everhart-Thornley detector: standard SE imaging for surface topography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Solid-state diode detectors: BSE imaging for compositional (Z) contrast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drift detectors (SDDs): rapid EDS elemental analysis and mapping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EBSD: electron backscatter diffraction for crystallographic orientation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FIB: focused ion beam milling for site-specific cross-sectioning and TEM sample preparation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depth of field makes SEM ideal for examining rough or fractured surfaces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 (2023). Materials Characterization, 205, 113331; Alghazzawi et al. (2023). Journal of Prosthodontics, 32(5), e100–e110.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SEM-CL System: Principle and Acquisition Modes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detector: aluminum-coated parabolic reflector beneath SEM pole piece collects luminescence photons from beam impact point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Panchromatic mode: captures total luminescence intensity across all wavelengths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Monochromatic mode: diffraction grating isolates specific wavelengths for selective phase imaging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imaging mode: wavelength-resolved spectra collected at each pixel during area scans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resolution mode: maps directional emission of CL photons using back-projection from parabolic reflector geometry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BSE, EDS, and EBSD for comprehensive multimodal characterization from the same microregion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Jiang, R. et al. (2024). Frontiers of Materials Science, 18(4), Article 240709.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SEM-CL Applications Across Material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Geological mineralogy: mineral identification and classification using CL color variation, e.g., tracing origin of quartz grains based on defect structure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Halide perovskite research: monochromatic CL imaging distinguishes PbI₂ and perovskite phases that appear identical in SE images but exhibit distinct luminescence bands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analysis: mapping defect density, dislocation distributions, and local band-gap variations at nanoscale spatial resolution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Non-metallic inclusions: CL perspective may elucidate impact of oxides on microstructural phenomena such as composition segregation and grain orientation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Jiang, R. et al. (2024). Frontiers of Materials Science, 18(4), Article 240709.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for Fractographic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Fractography: examination of fracture surfaces to determine failure origins and propagation mechanisms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SEM's high depth of field and variable magnification make it the instrument of choice for identifying fracture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observed: failure origin, mirror region, mist, hackle lines, arrest lines, compression curl, and grain morphology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 at fracture origins can identify inclusions and contaminants responsible for failure initiation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methods now enable automated measurement of fatigue striation parameters from SEM images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Alghazzawi et al. (2023). J. Prosthodontics, 32(5), e100–e110; Maruschak &amp; Maruschak (2024). MethodsX, 13, 102989.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1: Correlative Microscopy of the Aba Panu Meteorite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Panu: ordinary L3 chondrite meteorite that landed in Nigeria in 2018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minimal weathering (W0) and shock stage S4 — pristine condition ideal for microstructural investigation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Meteorite samples provide information about the formation history and environment of the early solar system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Multimodal, multiscale characterization is necessary to understand complex heterogeneous mineral assemblages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SEM-EDS combined with X-ray computed tomography (XCT) and nanoindentation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T.-J. et al. (2023). Materials Characterization, 205, Article 113331.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1: Experimental Setup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SEM-EDS: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200 NanoLab FEG SEM/FIB; specimens polished to 0.25 µm and Au-Pd coated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 mapping identified five mineral phases: olivine, pyroxene, chromite, kamacite, and troilite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XCT: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Zeiss Versa 520 X-ray microscope at 3.1 µm voxel size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reconstruction correlated with 2D SEM data to eliminate sampling bias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Nanoindentation: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Berkovich tip with continuous stiffness measurement (CSM)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modulus and hardness of individual mineral phases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T.-J. et al. (2023). Materials Characterization, 205, Article 113331.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1: Key Results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(GPa)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Hardness (GPa)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Olivine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~83.5% (combined)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Pyroxene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olivine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Kamacite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Troilite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632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XCT revealed kamacite and troilite clusters preferentially distributed along chondrule rims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 line scans showed compositional gradient: decreasing Mg from olivine cores to dendritic matrix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Correlative approach provided comprehensive structural, compositional, and mechanical understanding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T.-J. et al. (2023). Materials Characterization, 205, Article 113331.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2: SEM Fractography for Failure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Motivation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Fractography uses SEM to examine fracture surfaces and determine failure origins and mechanisms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Alghazzawi et al. studied dental ceramics (zirconia, glass-ceramics) and polymers (PEEK, PEKK, glass fiber composites) under standardized mechanical tests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Maruschak &amp; Maruschak reviewed computational methods for quantifying fatigue striations on SEM images of polycrystalline materials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how SEM reveals manufacturing defects and predicts residual life under cyclic loading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Alghazzawi et al. (2023). J. Prosthodontics, 32(5); Maruschak &amp; Maruschak (2024). MethodsX, 13, 102989.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2: Methods and Key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Fractography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4-pt bend, 3-pt bend, biaxial, crunch-the-crown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Zirconia bars: fracture origins at processing/sintering defects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Glass-ceramics: failure at surface flaws or fabrication voids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Polymers: PEKK showed ductile dimples then brittle propagation; fiber composites exposed glassy fibers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flaws are a function of both material composition and loading geometry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56616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Striation Analysis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analysis: macro-, meso-, and micro-level fracture description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Striation step ∝ macroscopic crack length (linear in elastic-plastic FCG regime)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methods now rank among the most promising for automated striation recognition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analysis, stereocouple methods, and 3D profile analysis address manual measurement limitations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D-factor needed when crack front growth is non-uniform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Alghazzawi et al. (2023). J. Prosthodontics, 32(5); Maruschak &amp; Maruschak (2024). MethodsX, 13, 102989.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2860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provides a versatile analytical platform capable of probing morphology, composition, crystallography, and optoelectronic properties from the same specimen region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1: Correlative microscopy (SEM-EDS + XCT + nanoindentation) yielded comprehensive phase, compositional, and mechanical characterization of the Aba Panu meteorite; SEM-CL extends analytical reach to band-gap and defect mapping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2: SEM fractography identified failure origins and manufacturing defects in dental materials; computational methods are transforming fractography from descriptive to predictive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computational image analysis matures, SEM-based characterization will increasingly serve as both diagnostic and predictive across engineering, geological, biomedical, and semiconductor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Alghazzawi, T. F., Janowski, G. M., Ning, H., &amp; Eberhardt, A. W. (2023). Qualitative SEM analysis of fracture surfaces for dental ceramics and polymers broken by flexural strength testing and crown compression. Journal of Prosthodontics, 32(5), e100–e110. https://doi.org/10.1111/jopr.13659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Huang, T.-J., Niverty, S., Sundar, A., &amp; Chawla, N. (2023). Microstructural characterization and mechanical behavior of Aba Panu meteorite by correlative microscopy and nanoindentation. Materials Characterization, 205, Article 113331. https://doi.org/10.1016/j.matchar.2023.113331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Jiang, R., Yao, Y., Guan, J., Shen, J., Lu, H., &amp; Li, M. (2024). Application of SEM-CL system in the characterization of material microstructures. Frontiers of Materials Science, 18(4), Article 240709. https://doi.org/10.1007/s11706-024-0709-5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Maruschak, P., &amp; Maruschak, O. (2024). Methods for evaluating fracture patterns of polycrystalline materials based on the parameter analysis of fatigue striations: A review. MethodsX, 13, Article 102989. https://doi.org/10.1016/j.mex.2024.102989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Saif Elsaady  |  MSE 550  |  April 4,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Use of SEM for Microstructural Characterization and Failure Analysis of Materials</dc:title>
  <dc:subject>PptxGenJS Presentation</dc:subject>
  <dc:creator>Saif Elsaady</dc:creator>
  <cp:lastModifiedBy>Saif Elsaady</cp:lastModifiedBy>
  <cp:revision>1</cp:revision>
  <dcterms:created xsi:type="dcterms:W3CDTF">2026-03-10T05:11:21Z</dcterms:created>
  <dcterms:modified xsi:type="dcterms:W3CDTF">2026-03-10T05:11:21Z</dcterms:modified>
</cp:coreProperties>
</file>